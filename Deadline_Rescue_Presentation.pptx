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1ec3d1a2-99b4-15d5-3c11-46752f07f882}">
          <p14:sldIdLst>
            <p14:sldId id="257"/>
            <p14:sldId id="258"/>
          </p14:sldIdLst>
        </p14:section>
        <p14:section name="Design" id="{6a583642-8981-5dfb-3417-5811398f3f0e}">
          <p14:sldIdLst>
            <p14:sldId id="259"/>
            <p14:sldId id="260"/>
            <p14:sldId id="261"/>
          </p14:sldIdLst>
        </p14:section>
        <p14:section name="Algorithms" id="{a9ebc7b1-f5a4-f527-e9c4-53d1bd3c6dd7}">
          <p14:sldIdLst>
            <p14:sldId id="262"/>
            <p14:sldId id="263"/>
            <p14:sldId id="264"/>
          </p14:sldIdLst>
        </p14:section>
        <p14:section name="Frontend" id="{f1ce2f28-224d-c288-614c-bede23bf187d}">
          <p14:sldIdLst>
            <p14:sldId id="265"/>
          </p14:sldIdLst>
        </p14:section>
        <p14:section name="Wrap-up" id="{a781d300-e664-ee97-2204-7b77b271d46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Deadline Rescue helps a student see which deadline to rescue first. The logic is written in Java using hand-made data structures, and the HTML frontend runs the same logic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talks only to TaskManager. TaskManager owns the TaskArray and UndoStack. DeadlineAnalyzer sorts copies of the array, so the stored order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idea: add 11 tasks to show capacity doubling, complete two tasks and undo, delete a task to show shifting, then search by ID to show the step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febuo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86868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Mini Project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Rescue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3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manager that tells you what to do next, built on a custom array, a custom stack and merge sort.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 logic and Swing app)  +  HTML frontend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pile up fast</a:t>
            </a:r>
            <a:endParaRPr lang="en-US" sz="3200" dirty="0"/>
          </a:p>
        </p:txBody>
      </p:sp>
      <p:sp>
        <p:nvSpPr>
          <p:cNvPr id="3" name="A flat to-do list has no order badg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4" name="Image 0" descr="A flat to-do list has no 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316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to-do list has no order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tasks look equally important, so the urgent one gets missed.</a:t>
            </a:r>
            <a:endParaRPr lang="en-US" sz="1400" dirty="0"/>
          </a:p>
        </p:txBody>
      </p:sp>
      <p:sp>
        <p:nvSpPr>
          <p:cNvPr id="7" name="Overdue work hides in the list badge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rgbClr val="D6382A"/>
          </a:solidFill>
          <a:ln w="12700">
            <a:solidFill>
              <a:srgbClr val="D6382A"/>
            </a:solidFill>
            <a:prstDash val="solid"/>
          </a:ln>
        </p:spPr>
      </p:sp>
      <p:pic>
        <p:nvPicPr>
          <p:cNvPr id="8" name="Image 1" descr="Overdue work hides in the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289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work hides in the list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34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tasks sit between fresh ones with nothing to flag them.</a:t>
            </a:r>
            <a:endParaRPr lang="en-US" sz="1400" dirty="0"/>
          </a:p>
        </p:txBody>
      </p:sp>
      <p:sp>
        <p:nvSpPr>
          <p:cNvPr id="11" name="One wrong tap is hard to take back badge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12" name="Image 2" descr="One wrong tap is hard to take b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7261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tap is hard to take back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the wrong task complete should be one step to reverse.</a:t>
            </a:r>
            <a:endParaRPr lang="en-US" sz="1400" dirty="0"/>
          </a:p>
        </p:txBody>
      </p:sp>
      <p:sp>
        <p:nvSpPr>
          <p:cNvPr id="15" name="Goal card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636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9659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one task to rescue first, and explain why.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priority ÷ time left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200" dirty="0"/>
          </a:p>
        </p:txBody>
      </p:sp>
      <p:sp>
        <p:nvSpPr>
          <p:cNvPr id="3" name="Feature card Add tasks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dd tasks badg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5" name="Image 0" descr="Add 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145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deadline and priority</a:t>
            </a:r>
            <a:endParaRPr lang="en-US" sz="1400" dirty="0"/>
          </a:p>
        </p:txBody>
      </p:sp>
      <p:sp>
        <p:nvSpPr>
          <p:cNvPr id="8" name="Feature card Rank by urgency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nk by urgency badge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10" name="Image 1" descr="Rank by urge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urgency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by deadline or priority</a:t>
            </a:r>
            <a:endParaRPr lang="en-US" sz="1400" dirty="0"/>
          </a:p>
        </p:txBody>
      </p:sp>
      <p:sp>
        <p:nvSpPr>
          <p:cNvPr id="13" name="Feature card Complete tasks"/>
          <p:cNvSpPr/>
          <p:nvPr/>
        </p:nvSpPr>
        <p:spPr>
          <a:xfrm>
            <a:off x="60350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mplete tasks badge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15" name="Image 2" descr="Complete tas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7145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overdue and due today</a:t>
            </a:r>
            <a:endParaRPr lang="en-US" sz="1400" dirty="0"/>
          </a:p>
        </p:txBody>
      </p:sp>
      <p:sp>
        <p:nvSpPr>
          <p:cNvPr id="18" name="Feature card Undo completion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Undo completion badge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20" name="Image 3" descr="Undo comple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3147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completion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custom stack</a:t>
            </a:r>
            <a:endParaRPr lang="en-US" sz="1400" dirty="0"/>
          </a:p>
        </p:txBody>
      </p:sp>
      <p:sp>
        <p:nvSpPr>
          <p:cNvPr id="23" name="Feature card Search by ID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earch by ID badge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25" name="Image 4" descr="Search by 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3147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with step count</a:t>
            </a:r>
            <a:endParaRPr lang="en-US" sz="1400" dirty="0"/>
          </a:p>
        </p:txBody>
      </p:sp>
      <p:sp>
        <p:nvSpPr>
          <p:cNvPr id="28" name="Feature card Keep your tasks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Keep your tasks badge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pic>
        <p:nvPicPr>
          <p:cNvPr id="30" name="Image 5" descr="Keep your tas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3147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tasks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between sessions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classes fit together</a:t>
            </a:r>
            <a:endParaRPr lang="en-US" sz="3200" dirty="0"/>
          </a:p>
        </p:txBody>
      </p:sp>
      <p:sp>
        <p:nvSpPr>
          <p:cNvPr id="3" name="Dashboard / HTML"/>
          <p:cNvSpPr/>
          <p:nvPr/>
        </p:nvSpPr>
        <p:spPr>
          <a:xfrm>
            <a:off x="54864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HTML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interface: table, buttons, lab</a:t>
            </a:r>
            <a:endParaRPr lang="en-US" sz="1200" dirty="0"/>
          </a:p>
        </p:txBody>
      </p:sp>
      <p:sp>
        <p:nvSpPr>
          <p:cNvPr id="6" name="TaskManager"/>
          <p:cNvSpPr/>
          <p:nvPr/>
        </p:nvSpPr>
        <p:spPr>
          <a:xfrm>
            <a:off x="342900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D6382A"/>
          </a:solidFill>
          <a:ln w="12700">
            <a:solidFill>
              <a:srgbClr val="D638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complete, undo, delete, save</a:t>
            </a:r>
            <a:endParaRPr lang="en-US" sz="1200" dirty="0"/>
          </a:p>
        </p:txBody>
      </p:sp>
      <p:sp>
        <p:nvSpPr>
          <p:cNvPr id="9" name="DeadlineAnalyzer"/>
          <p:cNvSpPr/>
          <p:nvPr/>
        </p:nvSpPr>
        <p:spPr>
          <a:xfrm>
            <a:off x="621792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B3F4A"/>
          </a:solidFill>
          <a:ln w="12700">
            <a:solidFill>
              <a:srgbClr val="2B3F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DeadlineAnalyzer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sort orders</a:t>
            </a:r>
            <a:endParaRPr lang="en-US" sz="1200" dirty="0"/>
          </a:p>
        </p:txBody>
      </p:sp>
      <p:sp>
        <p:nvSpPr>
          <p:cNvPr id="12" name="TaskArray"/>
          <p:cNvSpPr/>
          <p:nvPr/>
        </p:nvSpPr>
        <p:spPr>
          <a:xfrm>
            <a:off x="548640" y="32004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TaskArray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393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resizable array: add, findById, removeById</a:t>
            </a:r>
            <a:endParaRPr lang="en-US" sz="1200" dirty="0"/>
          </a:p>
        </p:txBody>
      </p:sp>
      <p:sp>
        <p:nvSpPr>
          <p:cNvPr id="15" name="UndoStack"/>
          <p:cNvSpPr/>
          <p:nvPr/>
        </p:nvSpPr>
        <p:spPr>
          <a:xfrm>
            <a:off x="3429000" y="32004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UndoStack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6393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stack: push, pop, peek</a:t>
            </a:r>
            <a:endParaRPr lang="en-US" sz="1200" dirty="0"/>
          </a:p>
        </p:txBody>
      </p:sp>
      <p:sp>
        <p:nvSpPr>
          <p:cNvPr id="18" name="Task"/>
          <p:cNvSpPr/>
          <p:nvPr/>
        </p:nvSpPr>
        <p:spPr>
          <a:xfrm>
            <a:off x="6217920" y="32004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6393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deadline, priority, urgencyScore()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182880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82880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286000"/>
            <a:ext cx="0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2743200"/>
            <a:ext cx="28803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2743200"/>
            <a:ext cx="0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286000"/>
            <a:ext cx="0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1: a resizable array built by hand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07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10, full. The 11th task arrives.</a:t>
            </a:r>
            <a:endParaRPr lang="en-US" sz="1300" dirty="0"/>
          </a:p>
        </p:txBody>
      </p:sp>
      <p:sp>
        <p:nvSpPr>
          <p:cNvPr id="4" name="cell 0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cell 1"/>
          <p:cNvSpPr/>
          <p:nvPr/>
        </p:nvSpPr>
        <p:spPr>
          <a:xfrm>
            <a:off x="941832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cell 2"/>
          <p:cNvSpPr/>
          <p:nvPr/>
        </p:nvSpPr>
        <p:spPr>
          <a:xfrm>
            <a:off x="1335024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3502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cell 3"/>
          <p:cNvSpPr/>
          <p:nvPr/>
        </p:nvSpPr>
        <p:spPr>
          <a:xfrm>
            <a:off x="1728216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28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cell 4"/>
          <p:cNvSpPr/>
          <p:nvPr/>
        </p:nvSpPr>
        <p:spPr>
          <a:xfrm>
            <a:off x="2121408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2140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cell 5"/>
          <p:cNvSpPr/>
          <p:nvPr/>
        </p:nvSpPr>
        <p:spPr>
          <a:xfrm>
            <a:off x="2514600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cell 6"/>
          <p:cNvSpPr/>
          <p:nvPr/>
        </p:nvSpPr>
        <p:spPr>
          <a:xfrm>
            <a:off x="2907792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077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cell 7"/>
          <p:cNvSpPr/>
          <p:nvPr/>
        </p:nvSpPr>
        <p:spPr>
          <a:xfrm>
            <a:off x="3300984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009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cell 8"/>
          <p:cNvSpPr/>
          <p:nvPr/>
        </p:nvSpPr>
        <p:spPr>
          <a:xfrm>
            <a:off x="3694176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941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cell 9"/>
          <p:cNvSpPr/>
          <p:nvPr/>
        </p:nvSpPr>
        <p:spPr>
          <a:xfrm>
            <a:off x="4087368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8736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13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doubles to 20. The 10 items are copied across.</a:t>
            </a:r>
            <a:endParaRPr lang="en-US" sz="1300" dirty="0"/>
          </a:p>
        </p:txBody>
      </p:sp>
      <p:sp>
        <p:nvSpPr>
          <p:cNvPr id="25" name="cell 0"/>
          <p:cNvSpPr/>
          <p:nvPr/>
        </p:nvSpPr>
        <p:spPr>
          <a:xfrm>
            <a:off x="54864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cell 1"/>
          <p:cNvSpPr/>
          <p:nvPr/>
        </p:nvSpPr>
        <p:spPr>
          <a:xfrm>
            <a:off x="941832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cell 2"/>
          <p:cNvSpPr/>
          <p:nvPr/>
        </p:nvSpPr>
        <p:spPr>
          <a:xfrm>
            <a:off x="1335024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35024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cell 3"/>
          <p:cNvSpPr/>
          <p:nvPr/>
        </p:nvSpPr>
        <p:spPr>
          <a:xfrm>
            <a:off x="1728216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28216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cell 4"/>
          <p:cNvSpPr/>
          <p:nvPr/>
        </p:nvSpPr>
        <p:spPr>
          <a:xfrm>
            <a:off x="2121408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21408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cell 5"/>
          <p:cNvSpPr/>
          <p:nvPr/>
        </p:nvSpPr>
        <p:spPr>
          <a:xfrm>
            <a:off x="251460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146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cell 6"/>
          <p:cNvSpPr/>
          <p:nvPr/>
        </p:nvSpPr>
        <p:spPr>
          <a:xfrm>
            <a:off x="2907792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0779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cell 7"/>
          <p:cNvSpPr/>
          <p:nvPr/>
        </p:nvSpPr>
        <p:spPr>
          <a:xfrm>
            <a:off x="3300984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00984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cell 8"/>
          <p:cNvSpPr/>
          <p:nvPr/>
        </p:nvSpPr>
        <p:spPr>
          <a:xfrm>
            <a:off x="3694176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94176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cell 9"/>
          <p:cNvSpPr/>
          <p:nvPr/>
        </p:nvSpPr>
        <p:spPr>
          <a:xfrm>
            <a:off x="4087368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8A6"/>
          </a:solidFill>
          <a:ln w="9525">
            <a:solidFill>
              <a:srgbClr val="2458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87368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cell 10"/>
          <p:cNvSpPr/>
          <p:nvPr/>
        </p:nvSpPr>
        <p:spPr>
          <a:xfrm>
            <a:off x="448056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46" name="cell 11"/>
          <p:cNvSpPr/>
          <p:nvPr/>
        </p:nvSpPr>
        <p:spPr>
          <a:xfrm>
            <a:off x="4873752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47" name="cell 12"/>
          <p:cNvSpPr/>
          <p:nvPr/>
        </p:nvSpPr>
        <p:spPr>
          <a:xfrm>
            <a:off x="5266944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48" name="cell 13"/>
          <p:cNvSpPr/>
          <p:nvPr/>
        </p:nvSpPr>
        <p:spPr>
          <a:xfrm>
            <a:off x="5660136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49" name="cell 14"/>
          <p:cNvSpPr/>
          <p:nvPr/>
        </p:nvSpPr>
        <p:spPr>
          <a:xfrm>
            <a:off x="6053328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0" name="cell 15"/>
          <p:cNvSpPr/>
          <p:nvPr/>
        </p:nvSpPr>
        <p:spPr>
          <a:xfrm>
            <a:off x="6446520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1" name="cell 16"/>
          <p:cNvSpPr/>
          <p:nvPr/>
        </p:nvSpPr>
        <p:spPr>
          <a:xfrm>
            <a:off x="6839712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2" name="cell 17"/>
          <p:cNvSpPr/>
          <p:nvPr/>
        </p:nvSpPr>
        <p:spPr>
          <a:xfrm>
            <a:off x="7232904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3" name="cell 18"/>
          <p:cNvSpPr/>
          <p:nvPr/>
        </p:nvSpPr>
        <p:spPr>
          <a:xfrm>
            <a:off x="7626096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4" name="cell 19"/>
          <p:cNvSpPr/>
          <p:nvPr/>
        </p:nvSpPr>
        <p:spPr>
          <a:xfrm>
            <a:off x="8019288" y="2606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EF2F3"/>
          </a:solidFill>
          <a:ln w="9525">
            <a:solidFill>
              <a:srgbClr val="D3DBDF"/>
            </a:solidFill>
            <a:prstDash val="solid"/>
          </a:ln>
        </p:spPr>
      </p:sp>
      <p:sp>
        <p:nvSpPr>
          <p:cNvPr id="55" name="Add card"/>
          <p:cNvSpPr/>
          <p:nvPr/>
        </p:nvSpPr>
        <p:spPr>
          <a:xfrm>
            <a:off x="548640" y="329184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15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amortized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31520" y="40416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index size. Doubling is rare.</a:t>
            </a:r>
            <a:endParaRPr lang="en-US" sz="1400" dirty="0"/>
          </a:p>
        </p:txBody>
      </p:sp>
      <p:sp>
        <p:nvSpPr>
          <p:cNvPr id="59" name="Find by ID card"/>
          <p:cNvSpPr/>
          <p:nvPr/>
        </p:nvSpPr>
        <p:spPr>
          <a:xfrm>
            <a:off x="3291840" y="329184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4747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ID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34747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3474720" y="40416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from index 0 until the ID matches.</a:t>
            </a:r>
            <a:endParaRPr lang="en-US" sz="1400" dirty="0"/>
          </a:p>
        </p:txBody>
      </p:sp>
      <p:sp>
        <p:nvSpPr>
          <p:cNvPr id="63" name="Remove by ID card"/>
          <p:cNvSpPr/>
          <p:nvPr/>
        </p:nvSpPr>
        <p:spPr>
          <a:xfrm>
            <a:off x="6035040" y="329184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2179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by ID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62179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217920" y="40416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every later item one step left.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2: a stack that powers undo</a:t>
            </a:r>
            <a:endParaRPr lang="en-US" sz="3200" dirty="0"/>
          </a:p>
        </p:txBody>
      </p:sp>
      <p:sp>
        <p:nvSpPr>
          <p:cNvPr id="3" name="stack slot 0"/>
          <p:cNvSpPr/>
          <p:nvPr/>
        </p:nvSpPr>
        <p:spPr>
          <a:xfrm>
            <a:off x="548640" y="146304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#3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400" dirty="0"/>
          </a:p>
        </p:txBody>
      </p:sp>
      <p:sp>
        <p:nvSpPr>
          <p:cNvPr id="6" name="stack slot 1"/>
          <p:cNvSpPr/>
          <p:nvPr/>
        </p:nvSpPr>
        <p:spPr>
          <a:xfrm>
            <a:off x="548640" y="214884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EEF2F3"/>
          </a:solidFill>
          <a:ln w="12700">
            <a:solidFill>
              <a:srgbClr val="D3DB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#6</a:t>
            </a:r>
            <a:endParaRPr lang="en-US" sz="1600" dirty="0"/>
          </a:p>
        </p:txBody>
      </p:sp>
      <p:sp>
        <p:nvSpPr>
          <p:cNvPr id="8" name="stack slot 2"/>
          <p:cNvSpPr/>
          <p:nvPr/>
        </p:nvSpPr>
        <p:spPr>
          <a:xfrm>
            <a:off x="548640" y="283464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EEF2F3"/>
          </a:solidFill>
          <a:ln w="12700">
            <a:solidFill>
              <a:srgbClr val="D3DB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34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#1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out: undo always reverses the newest completion.</a:t>
            </a:r>
            <a:endParaRPr lang="en-US" sz="1400" dirty="0"/>
          </a:p>
        </p:txBody>
      </p:sp>
      <p:sp>
        <p:nvSpPr>
          <p:cNvPr id="11" name="Code card"/>
          <p:cNvSpPr/>
          <p:nvPr/>
        </p:nvSpPr>
        <p:spPr>
          <a:xfrm>
            <a:off x="4023360" y="1463040"/>
            <a:ext cx="4572000" cy="1600200"/>
          </a:xfrm>
          <a:prstGeom prst="roundRect">
            <a:avLst>
              <a:gd name="adj" fmla="val 5714"/>
            </a:avLst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60020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push(action)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data[++top] = action;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D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data[top--] = null;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when full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disk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Session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urgency score decides the order</a:t>
            </a:r>
            <a:endParaRPr lang="en-US" sz="32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3716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overdue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× weight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(days left + 1)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+ 10 × weight + days late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High 3, Medium 2, Low 1</a:t>
            </a:r>
            <a:endParaRPr lang="en-US" sz="1200" dirty="0"/>
          </a:p>
        </p:txBody>
      </p:sp>
      <p:graphicFrame>
        <p:nvGraphicFramePr>
          <p:cNvPr id="8" name="Urgency examp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371600"/>
          <a:ext cx="43434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914400"/>
                <a:gridCol w="82296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record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 late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exam fees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DSA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 stacks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meeting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251960" y="42519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 always sort after pending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sort orders, one algorithm</a:t>
            </a:r>
            <a:endParaRPr lang="en-US" sz="3200" dirty="0"/>
          </a:p>
        </p:txBody>
      </p:sp>
      <p:sp>
        <p:nvSpPr>
          <p:cNvPr id="3" name="Urgency card"/>
          <p:cNvSpPr/>
          <p:nvPr/>
        </p:nvSpPr>
        <p:spPr>
          <a:xfrm>
            <a:off x="5486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D6382A"/>
          </a:solidFill>
          <a:ln w="12700">
            <a:solidFill>
              <a:srgbClr val="D638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first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</a:t>
            </a:r>
            <a:endParaRPr lang="en-US" sz="1400" dirty="0"/>
          </a:p>
        </p:txBody>
      </p:sp>
      <p:sp>
        <p:nvSpPr>
          <p:cNvPr id="7" name="Deadline card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458A6"/>
          </a:solidFill>
          <a:ln w="12700">
            <a:solidFill>
              <a:srgbClr val="245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Soonest date first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broken by title</a:t>
            </a:r>
            <a:endParaRPr lang="en-US" sz="1400" dirty="0"/>
          </a:p>
        </p:txBody>
      </p:sp>
      <p:sp>
        <p:nvSpPr>
          <p:cNvPr id="11" name="Priority card"/>
          <p:cNvSpPr/>
          <p:nvPr/>
        </p:nvSpPr>
        <p:spPr>
          <a:xfrm>
            <a:off x="60350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B7F63"/>
          </a:solidFill>
          <a:ln w="12700">
            <a:solidFill>
              <a:srgbClr val="1B7F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before Low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broken by date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merge sort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items keep their order.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version counts comparisons live.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 copy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array is never reordered.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at a glance</a:t>
            </a:r>
            <a:endParaRPr lang="en-US" sz="3200" dirty="0"/>
          </a:p>
        </p:txBody>
      </p:sp>
      <p:graphicFrame>
        <p:nvGraphicFramePr>
          <p:cNvPr id="10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lookup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TaskArray.get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task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TaskArray.add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by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TaskArray.findById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by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TaskArray.removeById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UndoStack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tasks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DeadlineAnalyzer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frontend</a:t>
            </a:r>
            <a:endParaRPr lang="en-US" sz="3200" dirty="0"/>
          </a:p>
        </p:txBody>
      </p:sp>
      <p:pic>
        <p:nvPicPr>
          <p:cNvPr id="3" name="Image 0" descr="Screenshot of the Deadline Rescue web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23805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9893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no setup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989320" y="1709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in any browser.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Java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stack and merge sort are ported.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lab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721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cells, stack and step counts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one bug fixed</a:t>
            </a:r>
            <a:endParaRPr lang="en-US" sz="3200" dirty="0"/>
          </a:p>
        </p:txBody>
      </p:sp>
      <p:sp>
        <p:nvSpPr>
          <p:cNvPr id="3" name="Checked card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checked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grows from 10 to 20 on the 11th task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restores the newest completion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shifts later items left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counts steps correctly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survive a page reload</a:t>
            </a:r>
            <a:endParaRPr lang="en-US" sz="1400" dirty="0"/>
          </a:p>
        </p:txBody>
      </p:sp>
      <p:sp>
        <p:nvSpPr>
          <p:cNvPr id="6" name="Bug card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12222B"/>
          </a:solidFill>
          <a:ln w="12700">
            <a:solidFill>
              <a:srgbClr val="122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 in the Java loader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tasks never reloaded because the split pattern was wrong.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split("\\\\|")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 split("\\|")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3794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a save and reload round trip.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febuo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64008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structure sets the cost of every operation.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makes undo simple and fast.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scoring rule turns a list into a plan.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min-heap for the most urgent task in O(log n), make delete undoable, and add due-date reminders.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adline Rescue">
  <a:themeElements>
    <a:clrScheme name="Deadline Rescue">
      <a:dk1>
        <a:srgbClr val="12222B"/>
      </a:dk1>
      <a:lt1>
        <a:srgbClr val="FFFFFF"/>
      </a:lt1>
      <a:dk2>
        <a:srgbClr val="2B3F4A"/>
      </a:dk2>
      <a:lt2>
        <a:srgbClr val="EEF2F3"/>
      </a:lt2>
      <a:accent1>
        <a:srgbClr val="D6382A"/>
      </a:accent1>
      <a:accent2>
        <a:srgbClr val="B7700A"/>
      </a:accent2>
      <a:accent3>
        <a:srgbClr val="1B7F63"/>
      </a:accent3>
      <a:accent4>
        <a:srgbClr val="2458A6"/>
      </a:accent4>
      <a:accent5>
        <a:srgbClr val="5B6B73"/>
      </a:accent5>
      <a:accent6>
        <a:srgbClr val="D3DBDF"/>
      </a:accent6>
      <a:hlink>
        <a:srgbClr val="2458A6"/>
      </a:hlink>
      <a:folHlink>
        <a:srgbClr val="5B6B73"/>
      </a:folHlink>
    </a:clrScheme>
    <a:fontScheme name="Deadline Resc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Deadline Rescue - DSA Mini Project</dc:title>
  <dc:subject>PptxGenJS Presentation</dc:subject>
  <dc:creator>PptxGenJS</dc:creator>
  <cp:lastModifiedBy>PptxGenJS</cp:lastModifiedBy>
  <cp:revision>1</cp:revision>
  <dcterms:created xsi:type="dcterms:W3CDTF">2026-10-29T07:55:09Z</dcterms:created>
  <dcterms:modified xsi:type="dcterms:W3CDTF">2026-10-29T07:55:09Z</dcterms:modified>
</cp:coreProperties>
</file>